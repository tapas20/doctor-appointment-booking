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Prescripto: a doctor appointment booking system with multi-role access and online payments.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Healthcare is going digital, but local clinic booking is still manual. Prescripto connects patients and doctors with live slots and payments.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challenges at local clinics, and why Next.js plus a strong backend was chosen.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stack, layer by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Next.js front, Express API with role middleware, MongoDB, and two external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Patient journey from discovery to paid booking and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Doctors apply, manage schedules and update statuses; admins oversee everything and gate doctor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collections. Appointment stores a snapshot of user and doctor data at booking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Role-scoped JWTs, route middleware such as authDoctor, and bcrypt hashing.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patients click Book on the same 10:00 AM slot. The backend checks slots_booked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Four-step Razorpay flow with HMAC signature verification.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Next.js over plain React: SEO, folder routing,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Base64 bloats the database, disk storage doesn't scale; Cloudinary with Multer stores only a CDN 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are cleanly separated, so a lightweight AppContext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Script-based API tests, Postman role checks, and payment failure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planned extensions.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three takeaways.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563F5">
                  <a:alpha val="100000"/>
                </a:srgbClr>
              </a:gs>
              <a:gs pos="100000">
                <a:srgbClr val="7B88FF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8801100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51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MAJOR PROJECT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3365182"/>
            <a:ext cx="8801100" cy="1527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85"/>
              </a:lnSpc>
              <a:buNone/>
            </a:pPr>
            <a:r>
              <a:rPr lang="en-US" sz="12750" b="1" spc="-44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Prescripto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1143000" y="5121593"/>
            <a:ext cx="8241030" cy="1133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77"/>
              </a:lnSpc>
              <a:buNone/>
            </a:pPr>
            <a:r>
              <a:rPr lang="en-US" sz="3750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Appointment </a:t>
            </a:r>
            <a:pPr algn="l" indent="0" marL="0">
              <a:lnSpc>
                <a:spcPct val="100877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System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1143000" y="8353425"/>
            <a:ext cx="8001000" cy="9525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8667750"/>
            <a:ext cx="2198005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9029700"/>
            <a:ext cx="2198005" cy="495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Tapas Jyoti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3998436" y="8667750"/>
            <a:ext cx="2438987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98436" y="9029700"/>
            <a:ext cx="2438987" cy="4953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2025–2026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906000" y="3139599"/>
            <a:ext cx="7239000" cy="4121944"/>
          </a:xfrm>
          <a:prstGeom prst="roundRect">
            <a:avLst>
              <a:gd name="adj" fmla="val 4622"/>
            </a:avLst>
          </a:prstGeom>
          <a:ln w="57150">
            <a:solidFill>
              <a:srgbClr val="FFFFFF">
                <a:alpha val="35000"/>
              </a:srgbClr>
            </a:solidFill>
            <a:prstDash val="solid"/>
          </a:ln>
          <a:effectLst>
            <a:outerShdw sx="100000" sy="100000" kx="0" ky="0" algn="bl" rotWithShape="0" blurRad="952500" dist="381000" dir="5400000">
              <a:srgbClr val="0D1450">
                <a:alpha val="40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3150" y="3196749"/>
            <a:ext cx="7124700" cy="40076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73342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INTRODUCTION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73342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5736431"/>
            <a:ext cx="6667500" cy="3750469"/>
          </a:xfrm>
          <a:prstGeom prst="roundRect">
            <a:avLst>
              <a:gd name="adj" fmla="val 4571"/>
            </a:avLst>
          </a:prstGeom>
          <a:ln/>
          <a:effectLst>
            <a:outerShdw sx="100000" sy="100000" kx="0" ky="0" algn="bl" rotWithShape="0" blurRad="666750" dist="285750" dir="5400000">
              <a:srgbClr val="5F6FFF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5736431"/>
            <a:ext cx="6667500" cy="37504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858250" y="1831658"/>
            <a:ext cx="828675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7" name="Text 4"/>
          <p:cNvSpPr/>
          <p:nvPr/>
        </p:nvSpPr>
        <p:spPr>
          <a:xfrm>
            <a:off x="8858250" y="2126933"/>
            <a:ext cx="91154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858250" y="2507932"/>
            <a:ext cx="9115425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Digitalization is changing how patients access healthcare.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858250" y="3205163"/>
            <a:ext cx="828675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10" name="Text 7"/>
          <p:cNvSpPr/>
          <p:nvPr/>
        </p:nvSpPr>
        <p:spPr>
          <a:xfrm>
            <a:off x="8858250" y="3500438"/>
            <a:ext cx="91154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858250" y="3881438"/>
            <a:ext cx="8535353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scheduling, double-bookings and no visibility into fees or credentials.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8858250" y="4990148"/>
            <a:ext cx="828675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13" name="Text 10"/>
          <p:cNvSpPr/>
          <p:nvPr/>
        </p:nvSpPr>
        <p:spPr>
          <a:xfrm>
            <a:off x="8858250" y="5285423"/>
            <a:ext cx="91154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858250" y="5666423"/>
            <a:ext cx="8535353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marketplace connecting patients to specialists, with real-time slots and digital payment.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8858250" y="8560117"/>
            <a:ext cx="828675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16" name="Shape 13"/>
          <p:cNvSpPr/>
          <p:nvPr/>
        </p:nvSpPr>
        <p:spPr>
          <a:xfrm>
            <a:off x="8858250" y="6775132"/>
            <a:ext cx="828675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17" name="Text 14"/>
          <p:cNvSpPr/>
          <p:nvPr/>
        </p:nvSpPr>
        <p:spPr>
          <a:xfrm>
            <a:off x="8858250" y="7070407"/>
            <a:ext cx="91154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858250" y="7451407"/>
            <a:ext cx="8535353" cy="86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robust, scalable, secure MERN platform for healthcare logistics.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PROBLEM STATEMENT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3000375"/>
            <a:ext cx="5156200" cy="3032760"/>
          </a:xfrm>
          <a:prstGeom prst="roundRect">
            <a:avLst>
              <a:gd name="adj" fmla="val 69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14300" dir="5400000">
              <a:srgbClr val="5F6FF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4000" y="341947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EF0FF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34194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24000" y="4219575"/>
            <a:ext cx="48336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transparency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524000" y="4867275"/>
            <a:ext cx="4526026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Fees and reviews unknown until the visit.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65900" y="3000375"/>
            <a:ext cx="5156200" cy="3032760"/>
          </a:xfrm>
          <a:prstGeom prst="roundRect">
            <a:avLst>
              <a:gd name="adj" fmla="val 69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14300" dir="5400000">
              <a:srgbClr val="5F6FFF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46900" y="341947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EF0FF"/>
          </a:solidFill>
          <a:ln/>
        </p:spPr>
      </p:sp>
      <p:sp>
        <p:nvSpPr>
          <p:cNvPr id="11" name="Text 9"/>
          <p:cNvSpPr/>
          <p:nvPr/>
        </p:nvSpPr>
        <p:spPr>
          <a:xfrm>
            <a:off x="6908800" y="34194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946900" y="4219575"/>
            <a:ext cx="48336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conflicts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946900" y="4867275"/>
            <a:ext cx="4526026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reception ledgers cause overlaps and double-booking.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1988800" y="3000375"/>
            <a:ext cx="5156200" cy="3032760"/>
          </a:xfrm>
          <a:prstGeom prst="roundRect">
            <a:avLst>
              <a:gd name="adj" fmla="val 69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14300" dir="5400000">
              <a:srgbClr val="5F6FFF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369800" y="3419475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EE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331700" y="3419475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369800" y="4219575"/>
            <a:ext cx="48336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friction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2369800" y="4867275"/>
            <a:ext cx="4526026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Cash-only systems lengthen waiting times.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43000" y="8242935"/>
            <a:ext cx="1600200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8633460"/>
            <a:ext cx="236220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10000" y="8633460"/>
            <a:ext cx="1373505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for SEO-driven doctor discovery, plus multi-role access control and atomic database operations.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OBJECTIVES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4667250"/>
            <a:ext cx="1600200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4981575"/>
            <a:ext cx="1028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095500" y="4924425"/>
            <a:ext cx="586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architecture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7429500" y="5000625"/>
            <a:ext cx="106870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for patients, doctors and admins.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3000" y="5629275"/>
            <a:ext cx="1600200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943600"/>
            <a:ext cx="1028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95500" y="5886450"/>
            <a:ext cx="586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control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7429500" y="5962650"/>
            <a:ext cx="106870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locking in MongoDB prevents double-booking.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143000" y="6591300"/>
            <a:ext cx="1600200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6905625"/>
            <a:ext cx="1028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95500" y="6848475"/>
            <a:ext cx="586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transactions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7429500" y="6924675"/>
            <a:ext cx="106870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for prepaid consultations.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43000" y="7553325"/>
            <a:ext cx="1600200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7867650"/>
            <a:ext cx="1028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95500" y="7810500"/>
            <a:ext cx="586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performance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7429500" y="7886700"/>
            <a:ext cx="106870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and Tailwind CSS for a fast UI.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143000" y="9477375"/>
            <a:ext cx="1600200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8515350"/>
            <a:ext cx="1600200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8829675"/>
            <a:ext cx="10287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095500" y="8772525"/>
            <a:ext cx="5867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assets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7429500" y="8848725"/>
            <a:ext cx="106870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hosted on Cloudinary.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A3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TECHNOLOGIES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4305300"/>
            <a:ext cx="3857625" cy="2495550"/>
          </a:xfrm>
          <a:prstGeom prst="roundRect">
            <a:avLst>
              <a:gd name="adj" fmla="val 7634"/>
            </a:avLst>
          </a:prstGeom>
          <a:solidFill>
            <a:srgbClr val="1C2660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4648200"/>
            <a:ext cx="34890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B4BB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85900" y="5067300"/>
            <a:ext cx="348900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85900" y="5676900"/>
            <a:ext cx="34890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5191125" y="4305300"/>
            <a:ext cx="3857625" cy="2495550"/>
          </a:xfrm>
          <a:prstGeom prst="roundRect">
            <a:avLst>
              <a:gd name="adj" fmla="val 7634"/>
            </a:avLst>
          </a:prstGeom>
          <a:solidFill>
            <a:srgbClr val="1C2660"/>
          </a:solidFill>
          <a:ln/>
        </p:spPr>
      </p:sp>
      <p:sp>
        <p:nvSpPr>
          <p:cNvPr id="9" name="Text 7"/>
          <p:cNvSpPr/>
          <p:nvPr/>
        </p:nvSpPr>
        <p:spPr>
          <a:xfrm>
            <a:off x="5534025" y="4648200"/>
            <a:ext cx="34890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B4BB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34025" y="5067300"/>
            <a:ext cx="348900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v4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9239250" y="4305300"/>
            <a:ext cx="3857625" cy="2495550"/>
          </a:xfrm>
          <a:prstGeom prst="roundRect">
            <a:avLst>
              <a:gd name="adj" fmla="val 7634"/>
            </a:avLst>
          </a:prstGeom>
          <a:solidFill>
            <a:srgbClr val="1C2660"/>
          </a:solidFill>
          <a:ln/>
        </p:spPr>
      </p:sp>
      <p:sp>
        <p:nvSpPr>
          <p:cNvPr id="12" name="Text 10"/>
          <p:cNvSpPr/>
          <p:nvPr/>
        </p:nvSpPr>
        <p:spPr>
          <a:xfrm>
            <a:off x="9582150" y="4648200"/>
            <a:ext cx="34890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B4BB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82150" y="5067300"/>
            <a:ext cx="348900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582150" y="5676900"/>
            <a:ext cx="34890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 5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287375" y="4305300"/>
            <a:ext cx="3857625" cy="2495550"/>
          </a:xfrm>
          <a:prstGeom prst="roundRect">
            <a:avLst>
              <a:gd name="adj" fmla="val 7634"/>
            </a:avLst>
          </a:prstGeom>
          <a:solidFill>
            <a:srgbClr val="1C2660"/>
          </a:solidFill>
          <a:ln/>
        </p:spPr>
      </p:sp>
      <p:sp>
        <p:nvSpPr>
          <p:cNvPr id="16" name="Text 14"/>
          <p:cNvSpPr/>
          <p:nvPr/>
        </p:nvSpPr>
        <p:spPr>
          <a:xfrm>
            <a:off x="13630275" y="4648200"/>
            <a:ext cx="34890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B4BB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630275" y="5067300"/>
            <a:ext cx="348900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3630275" y="5676900"/>
            <a:ext cx="34890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Mongoose ODM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43000" y="6991350"/>
            <a:ext cx="7905750" cy="2495550"/>
          </a:xfrm>
          <a:prstGeom prst="roundRect">
            <a:avLst>
              <a:gd name="adj" fmla="val 7634"/>
            </a:avLst>
          </a:prstGeom>
          <a:solidFill>
            <a:srgbClr val="1C2660"/>
          </a:solidFill>
          <a:ln/>
        </p:spPr>
      </p:sp>
      <p:sp>
        <p:nvSpPr>
          <p:cNvPr id="20" name="Text 18"/>
          <p:cNvSpPr/>
          <p:nvPr/>
        </p:nvSpPr>
        <p:spPr>
          <a:xfrm>
            <a:off x="1485900" y="7334250"/>
            <a:ext cx="79419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B4BB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85900" y="7753350"/>
            <a:ext cx="794194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· bcrypt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239250" y="6991350"/>
            <a:ext cx="3857625" cy="2495550"/>
          </a:xfrm>
          <a:prstGeom prst="roundRect">
            <a:avLst>
              <a:gd name="adj" fmla="val 7634"/>
            </a:avLst>
          </a:prstGeom>
          <a:solidFill>
            <a:srgbClr val="5F6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582150" y="7334250"/>
            <a:ext cx="34890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E6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82150" y="7753350"/>
            <a:ext cx="348900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13287375" y="6991350"/>
            <a:ext cx="3857625" cy="2495550"/>
          </a:xfrm>
          <a:prstGeom prst="roundRect">
            <a:avLst>
              <a:gd name="adj" fmla="val 7634"/>
            </a:avLst>
          </a:prstGeom>
          <a:solidFill>
            <a:srgbClr val="1C2660"/>
          </a:solidFill>
          <a:ln/>
        </p:spPr>
      </p:sp>
      <p:sp>
        <p:nvSpPr>
          <p:cNvPr id="26" name="Text 24"/>
          <p:cNvSpPr/>
          <p:nvPr/>
        </p:nvSpPr>
        <p:spPr>
          <a:xfrm>
            <a:off x="13630275" y="7334250"/>
            <a:ext cx="34890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B4BB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630275" y="7753350"/>
            <a:ext cx="348900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Multer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3630275" y="8362950"/>
            <a:ext cx="348900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 SDK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ARCHITECTURE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5044440"/>
            <a:ext cx="4826000" cy="2604135"/>
          </a:xfrm>
          <a:prstGeom prst="roundRect">
            <a:avLst>
              <a:gd name="adj" fmla="val 80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14300" dir="5400000">
              <a:srgbClr val="5F6FF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24000" y="5425440"/>
            <a:ext cx="44704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24000" y="5863590"/>
            <a:ext cx="44704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524000" y="6520815"/>
            <a:ext cx="4470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 and client UI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930900" y="5044440"/>
            <a:ext cx="838200" cy="2642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6731000" y="5044440"/>
            <a:ext cx="4826000" cy="2604135"/>
          </a:xfrm>
          <a:prstGeom prst="roundRect">
            <a:avLst>
              <a:gd name="adj" fmla="val 8047"/>
            </a:avLst>
          </a:prstGeom>
          <a:solidFill>
            <a:srgbClr val="5F6FFF"/>
          </a:solidFill>
          <a:ln/>
        </p:spPr>
      </p:sp>
      <p:sp>
        <p:nvSpPr>
          <p:cNvPr id="10" name="Text 8"/>
          <p:cNvSpPr/>
          <p:nvPr/>
        </p:nvSpPr>
        <p:spPr>
          <a:xfrm>
            <a:off x="7112000" y="5425440"/>
            <a:ext cx="44704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E6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12000" y="5863590"/>
            <a:ext cx="44704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7112000" y="6520815"/>
            <a:ext cx="418592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requests and role-based middleware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518900" y="5044440"/>
            <a:ext cx="838200" cy="2642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12319000" y="5044440"/>
            <a:ext cx="4826000" cy="2604135"/>
          </a:xfrm>
          <a:prstGeom prst="roundRect">
            <a:avLst>
              <a:gd name="adj" fmla="val 8047"/>
            </a:avLst>
          </a:prstGeom>
          <a:solidFill>
            <a:srgbClr val="111A45"/>
          </a:solidFill>
          <a:ln/>
        </p:spPr>
      </p:sp>
      <p:sp>
        <p:nvSpPr>
          <p:cNvPr id="15" name="Text 13"/>
          <p:cNvSpPr/>
          <p:nvPr/>
        </p:nvSpPr>
        <p:spPr>
          <a:xfrm>
            <a:off x="12700000" y="5425440"/>
            <a:ext cx="44704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B4BB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700000" y="5863590"/>
            <a:ext cx="44704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12700000" y="6520815"/>
            <a:ext cx="4185920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Users, doctors, appointment states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6731000" y="7915275"/>
            <a:ext cx="2317750" cy="1571625"/>
          </a:xfrm>
          <a:prstGeom prst="roundRect">
            <a:avLst>
              <a:gd name="adj" fmla="val 10909"/>
            </a:avLst>
          </a:prstGeom>
          <a:ln w="19050">
            <a:solidFill>
              <a:srgbClr val="B9BFF5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035800" y="8181975"/>
            <a:ext cx="17843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· payments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35800" y="8810625"/>
            <a:ext cx="18789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239250" y="7915275"/>
            <a:ext cx="2317750" cy="1571625"/>
          </a:xfrm>
          <a:prstGeom prst="roundRect">
            <a:avLst>
              <a:gd name="adj" fmla="val 10909"/>
            </a:avLst>
          </a:prstGeom>
          <a:ln w="19050">
            <a:solidFill>
              <a:srgbClr val="B9BFF5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9544050" y="8181975"/>
            <a:ext cx="178435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· image CDN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44050" y="8810625"/>
            <a:ext cx="18789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Cloudinary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99536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PATIENT MODULE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99536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Features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3958749"/>
            <a:ext cx="9048750" cy="5090001"/>
          </a:xfrm>
          <a:prstGeom prst="roundRect">
            <a:avLst>
              <a:gd name="adj" fmla="val 3368"/>
            </a:avLst>
          </a:prstGeom>
          <a:ln/>
          <a:effectLst>
            <a:outerShdw sx="100000" sy="100000" kx="0" ky="0" algn="bl" rotWithShape="0" blurRad="666750" dist="285750" dir="5400000">
              <a:srgbClr val="5F6FFF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3958749"/>
            <a:ext cx="9048750" cy="50900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9201150"/>
            <a:ext cx="99536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profile with live date and time slots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1049000" y="2076450"/>
            <a:ext cx="609600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8" name="Text 5"/>
          <p:cNvSpPr/>
          <p:nvPr/>
        </p:nvSpPr>
        <p:spPr>
          <a:xfrm>
            <a:off x="11049000" y="2314575"/>
            <a:ext cx="7429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1715750" y="2314575"/>
            <a:ext cx="59721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1715750" y="2781300"/>
            <a:ext cx="59721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doctors by speciality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1049000" y="3324225"/>
            <a:ext cx="609600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12" name="Text 9"/>
          <p:cNvSpPr/>
          <p:nvPr/>
        </p:nvSpPr>
        <p:spPr>
          <a:xfrm>
            <a:off x="11049000" y="3562350"/>
            <a:ext cx="7429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1715750" y="3562350"/>
            <a:ext cx="59721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transparency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11715750" y="4029075"/>
            <a:ext cx="59721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Degree, experience, bio and exact fee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11049000" y="4572000"/>
            <a:ext cx="609600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16" name="Text 13"/>
          <p:cNvSpPr/>
          <p:nvPr/>
        </p:nvSpPr>
        <p:spPr>
          <a:xfrm>
            <a:off x="11049000" y="4810125"/>
            <a:ext cx="7429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1715750" y="4810125"/>
            <a:ext cx="59721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booking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11715750" y="5276850"/>
            <a:ext cx="59721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currently free slots are shown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11049000" y="5819775"/>
            <a:ext cx="609600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20" name="Text 17"/>
          <p:cNvSpPr/>
          <p:nvPr/>
        </p:nvSpPr>
        <p:spPr>
          <a:xfrm>
            <a:off x="11049000" y="6057900"/>
            <a:ext cx="7429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1715750" y="6057900"/>
            <a:ext cx="59721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checkout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11715750" y="6524625"/>
            <a:ext cx="59721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overlay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11049000" y="8315325"/>
            <a:ext cx="609600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24" name="Shape 21"/>
          <p:cNvSpPr/>
          <p:nvPr/>
        </p:nvSpPr>
        <p:spPr>
          <a:xfrm>
            <a:off x="11049000" y="7067550"/>
            <a:ext cx="609600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25" name="Text 22"/>
          <p:cNvSpPr/>
          <p:nvPr/>
        </p:nvSpPr>
        <p:spPr>
          <a:xfrm>
            <a:off x="11049000" y="7305675"/>
            <a:ext cx="7429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50" dirty="0"/>
          </a:p>
        </p:txBody>
      </p:sp>
      <p:sp>
        <p:nvSpPr>
          <p:cNvPr id="26" name="Text 23"/>
          <p:cNvSpPr/>
          <p:nvPr/>
        </p:nvSpPr>
        <p:spPr>
          <a:xfrm>
            <a:off x="11715750" y="7305675"/>
            <a:ext cx="59721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550" dirty="0"/>
          </a:p>
        </p:txBody>
      </p:sp>
      <p:sp>
        <p:nvSpPr>
          <p:cNvPr id="27" name="Text 24"/>
          <p:cNvSpPr/>
          <p:nvPr/>
        </p:nvSpPr>
        <p:spPr>
          <a:xfrm>
            <a:off x="11715750" y="7772400"/>
            <a:ext cx="59721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and appointment status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DOCTOR &amp; ADMIN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&amp; Admin Features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4505325"/>
            <a:ext cx="7848600" cy="4981575"/>
          </a:xfrm>
          <a:prstGeom prst="roundRect">
            <a:avLst>
              <a:gd name="adj" fmla="val 45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14300" dir="5400000">
              <a:srgbClr val="5F6FF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00200" y="4962525"/>
            <a:ext cx="76276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MODULE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00200" y="6524625"/>
            <a:ext cx="6934200" cy="9525"/>
          </a:xfrm>
          <a:prstGeom prst="rect">
            <a:avLst/>
          </a:prstGeom>
          <a:solidFill>
            <a:srgbClr val="ECEEFB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5534025"/>
            <a:ext cx="762762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pipeline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600200" y="6000750"/>
            <a:ext cx="76276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credentials for review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600200" y="7810500"/>
            <a:ext cx="6934200" cy="9525"/>
          </a:xfrm>
          <a:prstGeom prst="rect">
            <a:avLst/>
          </a:prstGeom>
          <a:solidFill>
            <a:srgbClr val="ECEEFB"/>
          </a:solidFill>
          <a:ln/>
        </p:spPr>
      </p:sp>
      <p:sp>
        <p:nvSpPr>
          <p:cNvPr id="10" name="Text 8"/>
          <p:cNvSpPr/>
          <p:nvPr/>
        </p:nvSpPr>
        <p:spPr>
          <a:xfrm>
            <a:off x="1600200" y="6819900"/>
            <a:ext cx="762762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management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600200" y="7286625"/>
            <a:ext cx="76276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upcoming appointments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00200" y="8105775"/>
            <a:ext cx="762762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controls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600200" y="8629650"/>
            <a:ext cx="1481455" cy="400050"/>
          </a:xfrm>
          <a:prstGeom prst="roundRect">
            <a:avLst>
              <a:gd name="adj" fmla="val 50000"/>
            </a:avLst>
          </a:prstGeom>
          <a:solidFill>
            <a:srgbClr val="E5F7EC"/>
          </a:solidFill>
          <a:ln/>
        </p:spPr>
      </p:sp>
      <p:sp>
        <p:nvSpPr>
          <p:cNvPr id="14" name="Text 12"/>
          <p:cNvSpPr/>
          <p:nvPr/>
        </p:nvSpPr>
        <p:spPr>
          <a:xfrm>
            <a:off x="1771650" y="8686800"/>
            <a:ext cx="12147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95955" y="8629650"/>
            <a:ext cx="1049972" cy="40005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/>
        </p:spPr>
      </p:sp>
      <p:sp>
        <p:nvSpPr>
          <p:cNvPr id="16" name="Text 14"/>
          <p:cNvSpPr/>
          <p:nvPr/>
        </p:nvSpPr>
        <p:spPr>
          <a:xfrm>
            <a:off x="3367405" y="8686800"/>
            <a:ext cx="78327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96400" y="4505325"/>
            <a:ext cx="7848600" cy="4981575"/>
          </a:xfrm>
          <a:prstGeom prst="roundRect">
            <a:avLst>
              <a:gd name="adj" fmla="val 4589"/>
            </a:avLst>
          </a:prstGeom>
          <a:solidFill>
            <a:srgbClr val="111A45"/>
          </a:solidFill>
          <a:ln/>
        </p:spPr>
      </p:sp>
      <p:sp>
        <p:nvSpPr>
          <p:cNvPr id="18" name="Text 16"/>
          <p:cNvSpPr/>
          <p:nvPr/>
        </p:nvSpPr>
        <p:spPr>
          <a:xfrm>
            <a:off x="9753600" y="4962525"/>
            <a:ext cx="76276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A3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MODULE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753600" y="6524625"/>
            <a:ext cx="6934200" cy="9525"/>
          </a:xfrm>
          <a:prstGeom prst="rect">
            <a:avLst/>
          </a:prstGeom>
          <a:solidFill>
            <a:srgbClr val="2A3475"/>
          </a:solidFill>
          <a:ln/>
        </p:spPr>
      </p:sp>
      <p:sp>
        <p:nvSpPr>
          <p:cNvPr id="20" name="Text 18"/>
          <p:cNvSpPr/>
          <p:nvPr/>
        </p:nvSpPr>
        <p:spPr>
          <a:xfrm>
            <a:off x="9753600" y="5534025"/>
            <a:ext cx="762762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Oversight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753600" y="6000750"/>
            <a:ext cx="76276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appointments and revenue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753600" y="6819900"/>
            <a:ext cx="762762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Gatekeeping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753600" y="7343775"/>
            <a:ext cx="76276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reject doctor applications to ensure trust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753600" y="7848600"/>
            <a:ext cx="1233964" cy="419100"/>
          </a:xfrm>
          <a:prstGeom prst="roundRect">
            <a:avLst>
              <a:gd name="adj" fmla="val 50000"/>
            </a:avLst>
          </a:prstGeom>
          <a:solidFill>
            <a:srgbClr val="5F6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925050" y="7905750"/>
            <a:ext cx="9672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1101864" y="7848600"/>
            <a:ext cx="1007745" cy="419100"/>
          </a:xfrm>
          <a:prstGeom prst="roundRect">
            <a:avLst>
              <a:gd name="adj" fmla="val 50000"/>
            </a:avLst>
          </a:prstGeom>
          <a:ln w="9525">
            <a:solidFill>
              <a:srgbClr val="4A54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82839" y="7915275"/>
            <a:ext cx="72199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A3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MONGODB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5705475"/>
            <a:ext cx="3617277" cy="3781425"/>
          </a:xfrm>
          <a:prstGeom prst="roundRect">
            <a:avLst>
              <a:gd name="adj" fmla="val 4740"/>
            </a:avLst>
          </a:prstGeom>
          <a:solidFill>
            <a:srgbClr val="1C2660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6505575"/>
            <a:ext cx="3617277" cy="9525"/>
          </a:xfrm>
          <a:prstGeom prst="rect">
            <a:avLst/>
          </a:prstGeom>
          <a:solidFill>
            <a:srgbClr val="2A3475"/>
          </a:solidFill>
          <a:ln/>
        </p:spPr>
      </p:sp>
      <p:sp>
        <p:nvSpPr>
          <p:cNvPr id="6" name="Text 4"/>
          <p:cNvSpPr/>
          <p:nvPr/>
        </p:nvSpPr>
        <p:spPr>
          <a:xfrm>
            <a:off x="1409700" y="5915025"/>
            <a:ext cx="319239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09700" y="6743700"/>
            <a:ext cx="33922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F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09700" y="7181850"/>
            <a:ext cx="33922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F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409700" y="7620000"/>
            <a:ext cx="33922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F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409700" y="8058150"/>
            <a:ext cx="33922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F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409700" y="8496300"/>
            <a:ext cx="33922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F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409700" y="8934450"/>
            <a:ext cx="33922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F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4969827" y="5705475"/>
            <a:ext cx="3617277" cy="3343275"/>
          </a:xfrm>
          <a:prstGeom prst="roundRect">
            <a:avLst>
              <a:gd name="adj" fmla="val 5128"/>
            </a:avLst>
          </a:prstGeom>
          <a:solidFill>
            <a:srgbClr val="1C2660"/>
          </a:solidFill>
          <a:ln/>
        </p:spPr>
      </p:sp>
      <p:sp>
        <p:nvSpPr>
          <p:cNvPr id="14" name="Shape 12"/>
          <p:cNvSpPr/>
          <p:nvPr/>
        </p:nvSpPr>
        <p:spPr>
          <a:xfrm>
            <a:off x="4969827" y="6505575"/>
            <a:ext cx="3617277" cy="9525"/>
          </a:xfrm>
          <a:prstGeom prst="rect">
            <a:avLst/>
          </a:prstGeom>
          <a:solidFill>
            <a:srgbClr val="2A3475"/>
          </a:solidFill>
          <a:ln/>
        </p:spPr>
      </p:sp>
      <p:sp>
        <p:nvSpPr>
          <p:cNvPr id="15" name="Text 13"/>
          <p:cNvSpPr/>
          <p:nvPr/>
        </p:nvSpPr>
        <p:spPr>
          <a:xfrm>
            <a:off x="5236527" y="5915025"/>
            <a:ext cx="319239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36527" y="6743700"/>
            <a:ext cx="33922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F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5236527" y="7181850"/>
            <a:ext cx="33922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F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speciality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5236527" y="7620000"/>
            <a:ext cx="33922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F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5236527" y="8058150"/>
            <a:ext cx="33922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DF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fees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5236527" y="8496300"/>
            <a:ext cx="33922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E1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slots_booked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8796655" y="5705475"/>
            <a:ext cx="4521518" cy="3781425"/>
          </a:xfrm>
          <a:prstGeom prst="roundRect">
            <a:avLst>
              <a:gd name="adj" fmla="val 4534"/>
            </a:avLst>
          </a:prstGeom>
          <a:solidFill>
            <a:srgbClr val="5F6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796655" y="6505575"/>
            <a:ext cx="4521518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063355" y="5915025"/>
            <a:ext cx="41237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063355" y="6743700"/>
            <a:ext cx="438692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</a:t>
            </a:r>
            <a:pPr algn="l" indent="0" marL="0">
              <a:buNone/>
            </a:pPr>
            <a:r>
              <a:rPr lang="en-US" sz="1875" dirty="0">
                <a:solidFill>
                  <a:srgbClr val="DF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User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9063355" y="7181850"/>
            <a:ext cx="438692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docId </a:t>
            </a:r>
            <a:pPr algn="l" indent="0" marL="0">
              <a:buNone/>
            </a:pPr>
            <a:r>
              <a:rPr lang="en-US" sz="1875" dirty="0">
                <a:solidFill>
                  <a:srgbClr val="DF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Doctor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9063355" y="7620000"/>
            <a:ext cx="438692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slotDate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9063355" y="8058150"/>
            <a:ext cx="438692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slotTime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9063355" y="8496300"/>
            <a:ext cx="438692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9063355" y="8934450"/>
            <a:ext cx="438692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userData / docData </a:t>
            </a:r>
            <a:pPr algn="l" indent="0" marL="0">
              <a:buNone/>
            </a:pPr>
            <a:r>
              <a:rPr lang="en-US" sz="1875" dirty="0">
                <a:solidFill>
                  <a:srgbClr val="DFE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3527723" y="5705475"/>
            <a:ext cx="3617277" cy="2306955"/>
          </a:xfrm>
          <a:prstGeom prst="roundRect">
            <a:avLst>
              <a:gd name="adj" fmla="val 7432"/>
            </a:avLst>
          </a:prstGeom>
          <a:solidFill>
            <a:srgbClr val="1C266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527723" y="6505575"/>
            <a:ext cx="3617277" cy="9525"/>
          </a:xfrm>
          <a:prstGeom prst="rect">
            <a:avLst/>
          </a:prstGeom>
          <a:solidFill>
            <a:srgbClr val="2A3475"/>
          </a:solidFill>
          <a:ln/>
        </p:spPr>
      </p:sp>
      <p:sp>
        <p:nvSpPr>
          <p:cNvPr id="32" name="Text 30"/>
          <p:cNvSpPr/>
          <p:nvPr/>
        </p:nvSpPr>
        <p:spPr>
          <a:xfrm>
            <a:off x="13794423" y="5915025"/>
            <a:ext cx="3192396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DoctorApplication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3794423" y="6743700"/>
            <a:ext cx="3176394" cy="107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storage for doctors pending admin approval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827722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AUTHENTICATION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7750492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Security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5254149"/>
            <a:ext cx="7524750" cy="4232751"/>
          </a:xfrm>
          <a:prstGeom prst="roundRect">
            <a:avLst>
              <a:gd name="adj" fmla="val 4051"/>
            </a:avLst>
          </a:prstGeom>
          <a:ln/>
          <a:effectLst>
            <a:outerShdw sx="100000" sy="100000" kx="0" ky="0" algn="bl" rotWithShape="0" blurRad="666750" dist="285750" dir="5400000">
              <a:srgbClr val="5F6FFF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5254149"/>
            <a:ext cx="7524750" cy="42327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620250" y="4385310"/>
            <a:ext cx="752475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7" name="Text 4"/>
          <p:cNvSpPr/>
          <p:nvPr/>
        </p:nvSpPr>
        <p:spPr>
          <a:xfrm>
            <a:off x="9620250" y="4699635"/>
            <a:ext cx="82772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JWT</a:t>
            </a:r>
            <a:endParaRPr lang="en-US" sz="2850" dirty="0"/>
          </a:p>
        </p:txBody>
      </p:sp>
      <p:sp>
        <p:nvSpPr>
          <p:cNvPr id="8" name="Shape 5"/>
          <p:cNvSpPr/>
          <p:nvPr/>
        </p:nvSpPr>
        <p:spPr>
          <a:xfrm>
            <a:off x="9620250" y="5290185"/>
            <a:ext cx="1303020" cy="41910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/>
        </p:spPr>
      </p:sp>
      <p:sp>
        <p:nvSpPr>
          <p:cNvPr id="9" name="Text 6"/>
          <p:cNvSpPr/>
          <p:nvPr/>
        </p:nvSpPr>
        <p:spPr>
          <a:xfrm>
            <a:off x="9791700" y="5347335"/>
            <a:ext cx="10363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35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1037570" y="5290185"/>
            <a:ext cx="1165860" cy="419100"/>
          </a:xfrm>
          <a:prstGeom prst="roundRect">
            <a:avLst>
              <a:gd name="adj" fmla="val 50000"/>
            </a:avLst>
          </a:prstGeom>
          <a:solidFill>
            <a:srgbClr val="EEF0FF"/>
          </a:solidFill>
          <a:ln/>
        </p:spPr>
      </p:sp>
      <p:sp>
        <p:nvSpPr>
          <p:cNvPr id="11" name="Text 8"/>
          <p:cNvSpPr/>
          <p:nvPr/>
        </p:nvSpPr>
        <p:spPr>
          <a:xfrm>
            <a:off x="11209020" y="5347335"/>
            <a:ext cx="8991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35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2317730" y="5290185"/>
            <a:ext cx="1028700" cy="419100"/>
          </a:xfrm>
          <a:prstGeom prst="roundRect">
            <a:avLst>
              <a:gd name="adj" fmla="val 50000"/>
            </a:avLst>
          </a:prstGeom>
          <a:solidFill>
            <a:srgbClr val="5F6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2489180" y="5347335"/>
            <a:ext cx="762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620250" y="6014085"/>
            <a:ext cx="752475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15" name="Text 12"/>
          <p:cNvSpPr/>
          <p:nvPr/>
        </p:nvSpPr>
        <p:spPr>
          <a:xfrm>
            <a:off x="9620250" y="6328410"/>
            <a:ext cx="82772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protection</a:t>
            </a:r>
            <a:endParaRPr lang="en-US" sz="2850" dirty="0"/>
          </a:p>
        </p:txBody>
      </p:sp>
      <p:sp>
        <p:nvSpPr>
          <p:cNvPr id="16" name="Text 13"/>
          <p:cNvSpPr/>
          <p:nvPr/>
        </p:nvSpPr>
        <p:spPr>
          <a:xfrm>
            <a:off x="9620250" y="6880860"/>
            <a:ext cx="7750492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435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authDoctor </a:t>
            </a:r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the token so patients can't open a doctor's appointment list.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9620250" y="9477375"/>
            <a:ext cx="752475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18" name="Shape 15"/>
          <p:cNvSpPr/>
          <p:nvPr/>
        </p:nvSpPr>
        <p:spPr>
          <a:xfrm>
            <a:off x="9620250" y="7932420"/>
            <a:ext cx="752475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19" name="Text 16"/>
          <p:cNvSpPr/>
          <p:nvPr/>
        </p:nvSpPr>
        <p:spPr>
          <a:xfrm>
            <a:off x="9620250" y="8246745"/>
            <a:ext cx="82772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hashing</a:t>
            </a:r>
            <a:endParaRPr lang="en-US" sz="2850" dirty="0"/>
          </a:p>
        </p:txBody>
      </p:sp>
      <p:sp>
        <p:nvSpPr>
          <p:cNvPr id="20" name="Text 17"/>
          <p:cNvSpPr/>
          <p:nvPr/>
        </p:nvSpPr>
        <p:spPr>
          <a:xfrm>
            <a:off x="9620250" y="8799195"/>
            <a:ext cx="827722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ensures passwords are never stored in plaintext.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A3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CONCURRENCY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Double-Booking Challenge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143000" y="2505075"/>
            <a:ext cx="17602200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patients click “Book” on the same </a:t>
            </a:r>
            <a:pPr algn="l" indent="0" marL="0">
              <a:lnSpc>
                <a:spcPct val="122051"/>
              </a:lnSpc>
              <a:buNone/>
            </a:pPr>
            <a:r>
              <a:rPr lang="en-US" sz="255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 AM </a:t>
            </a:r>
            <a:pPr algn="l" indent="0" marL="0">
              <a:lnSpc>
                <a:spcPct val="122051"/>
              </a:lnSpc>
              <a:buNone/>
            </a:pPr>
            <a:r>
              <a:rPr lang="en-US" sz="255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at the same moment.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6438900"/>
            <a:ext cx="2595563" cy="1333500"/>
          </a:xfrm>
          <a:prstGeom prst="roundRect">
            <a:avLst>
              <a:gd name="adj" fmla="val 12857"/>
            </a:avLst>
          </a:prstGeom>
          <a:solidFill>
            <a:srgbClr val="1C2660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6724650"/>
            <a:ext cx="110505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457609" y="6800850"/>
            <a:ext cx="107140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C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10:00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7943850"/>
            <a:ext cx="2595563" cy="1333500"/>
          </a:xfrm>
          <a:prstGeom prst="roundRect">
            <a:avLst>
              <a:gd name="adj" fmla="val 12857"/>
            </a:avLst>
          </a:prstGeom>
          <a:solidFill>
            <a:srgbClr val="1C2660"/>
          </a:solidFill>
          <a:ln/>
        </p:spPr>
      </p:sp>
      <p:sp>
        <p:nvSpPr>
          <p:cNvPr id="9" name="Text 7"/>
          <p:cNvSpPr/>
          <p:nvPr/>
        </p:nvSpPr>
        <p:spPr>
          <a:xfrm>
            <a:off x="1428750" y="8229600"/>
            <a:ext cx="110505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57609" y="8305800"/>
            <a:ext cx="1071404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C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10:00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005262" y="6438900"/>
            <a:ext cx="10277475" cy="3048000"/>
          </a:xfrm>
          <a:prstGeom prst="roundRect">
            <a:avLst>
              <a:gd name="adj" fmla="val 5625"/>
            </a:avLst>
          </a:prstGeom>
          <a:solidFill>
            <a:srgbClr val="0A0F2C"/>
          </a:solidFill>
          <a:ln w="9525">
            <a:solidFill>
              <a:srgbClr val="2A34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7688" y="6753225"/>
            <a:ext cx="9880949" cy="2457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8A93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Doctor.slots_booked by date</a:t>
            </a:r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A3A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DFE2FF"/>
                </a:solidFill>
                <a:highlight>
                  <a:srgbClr val="0A0F2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slots = slots_booked[slotDate]; </a:t>
            </a:r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A3A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DFE2FF"/>
                </a:solidFill>
                <a:highlight>
                  <a:srgbClr val="0A0F2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(slots.includes(slotTime))</a:t>
            </a:r>
            <a:endParaRPr lang="en-US" sz="1875" dirty="0"/>
          </a:p>
          <a:p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DFE2FF"/>
                </a:solidFill>
                <a:highlight>
                  <a:srgbClr val="0A0F2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875" dirty="0"/>
          </a:p>
          <a:p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FF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DFE2FF"/>
                </a:solidFill>
                <a:highlight>
                  <a:srgbClr val="0A0F2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reject();</a:t>
            </a:r>
            <a:endParaRPr lang="en-US" sz="1875" dirty="0"/>
          </a:p>
          <a:p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DFE2FF"/>
                </a:solidFill>
                <a:highlight>
                  <a:srgbClr val="0A0F2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slots.push(slotTime); </a:t>
            </a:r>
            <a:endParaRPr lang="en-US" sz="1875" dirty="0"/>
          </a:p>
          <a:p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A3A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ct val="142241"/>
              </a:lnSpc>
              <a:buNone/>
            </a:pPr>
            <a:r>
              <a:rPr lang="en-US" sz="1875" dirty="0">
                <a:solidFill>
                  <a:srgbClr val="DFE2FF"/>
                </a:solidFill>
                <a:highlight>
                  <a:srgbClr val="0A0F2C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doctor.save();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4549438" y="6438900"/>
            <a:ext cx="2595563" cy="1581150"/>
          </a:xfrm>
          <a:prstGeom prst="roundRect">
            <a:avLst>
              <a:gd name="adj" fmla="val 10843"/>
            </a:avLst>
          </a:prstGeom>
          <a:solidFill>
            <a:srgbClr val="E5F7EC"/>
          </a:solidFill>
          <a:ln/>
        </p:spPr>
      </p:sp>
      <p:sp>
        <p:nvSpPr>
          <p:cNvPr id="14" name="Text 12"/>
          <p:cNvSpPr/>
          <p:nvPr/>
        </p:nvSpPr>
        <p:spPr>
          <a:xfrm>
            <a:off x="14835187" y="6724650"/>
            <a:ext cx="222646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5E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Booked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835187" y="7162800"/>
            <a:ext cx="210026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5E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pushed and saved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549438" y="8191500"/>
            <a:ext cx="2595563" cy="1295400"/>
          </a:xfrm>
          <a:prstGeom prst="roundRect">
            <a:avLst>
              <a:gd name="adj" fmla="val 13235"/>
            </a:avLst>
          </a:prstGeom>
          <a:solidFill>
            <a:srgbClr val="FDECEC"/>
          </a:solidFill>
          <a:ln/>
        </p:spPr>
      </p:sp>
      <p:sp>
        <p:nvSpPr>
          <p:cNvPr id="17" name="Text 15"/>
          <p:cNvSpPr/>
          <p:nvPr/>
        </p:nvSpPr>
        <p:spPr>
          <a:xfrm>
            <a:off x="14835187" y="8477250"/>
            <a:ext cx="222646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E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Rejected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835187" y="8915400"/>
            <a:ext cx="222646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E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already taken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01631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RAZORPAY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01631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Integration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4505325"/>
            <a:ext cx="923925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4743450"/>
            <a:ext cx="495300" cy="495300"/>
          </a:xfrm>
          <a:prstGeom prst="ellipse">
            <a:avLst/>
          </a:prstGeom>
          <a:solidFill>
            <a:srgbClr val="EEF0FF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47434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905000" y="4743450"/>
            <a:ext cx="93249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creation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905000" y="5191125"/>
            <a:ext cx="93249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35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fees * 100 </a:t>
            </a:r>
            <a:pPr algn="l" indent="0" marL="0">
              <a:buNone/>
            </a:pPr>
            <a:r>
              <a:rPr lang="en-US" sz="19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Razorpay order_id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43000" y="5753100"/>
            <a:ext cx="923925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5991225"/>
            <a:ext cx="495300" cy="495300"/>
          </a:xfrm>
          <a:prstGeom prst="ellipse">
            <a:avLst/>
          </a:prstGeom>
          <a:solidFill>
            <a:srgbClr val="EEF0FF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599122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905000" y="5991225"/>
            <a:ext cx="93249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checkout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905000" y="6438900"/>
            <a:ext cx="93249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pays via UPI or card in the modal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43000" y="6981825"/>
            <a:ext cx="923925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7219950"/>
            <a:ext cx="495300" cy="495300"/>
          </a:xfrm>
          <a:prstGeom prst="ellipse">
            <a:avLst/>
          </a:prstGeom>
          <a:solidFill>
            <a:srgbClr val="EE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" y="721995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905000" y="7219950"/>
            <a:ext cx="93249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905000" y="7667625"/>
            <a:ext cx="93249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35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crypto.createHmac </a:t>
            </a:r>
            <a:pPr algn="l" indent="0" marL="0">
              <a:buNone/>
            </a:pPr>
            <a:r>
              <a:rPr lang="en-US" sz="19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the signature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143000" y="9477375"/>
            <a:ext cx="923925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8229600"/>
            <a:ext cx="9239250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8467725"/>
            <a:ext cx="495300" cy="495300"/>
          </a:xfrm>
          <a:prstGeom prst="ellipse">
            <a:avLst/>
          </a:prstGeom>
          <a:solidFill>
            <a:srgbClr val="5F6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04900" y="846772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905000" y="8467725"/>
            <a:ext cx="93249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1905000" y="8915400"/>
            <a:ext cx="932497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set to </a:t>
            </a:r>
            <a:pPr algn="l" indent="0" marL="0">
              <a:buNone/>
            </a:pPr>
            <a:r>
              <a:rPr lang="en-US" sz="1950" dirty="0">
                <a:solidFill>
                  <a:srgbClr val="435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payment: true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1239500" y="2986088"/>
            <a:ext cx="5905500" cy="4429125"/>
          </a:xfrm>
          <a:prstGeom prst="roundRect">
            <a:avLst>
              <a:gd name="adj" fmla="val 4301"/>
            </a:avLst>
          </a:prstGeom>
          <a:ln/>
          <a:effectLst>
            <a:outerShdw sx="100000" sy="100000" kx="0" ky="0" algn="bl" rotWithShape="0" blurRad="857250" dist="381000" dir="5400000">
              <a:srgbClr val="111A45">
                <a:alpha val="25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39500" y="2986088"/>
            <a:ext cx="5905500" cy="4429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FRONTEND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Excellence with Next.js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143000" y="2466975"/>
            <a:ext cx="17602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Next.js instead of standard React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4838700"/>
            <a:ext cx="5156200" cy="4648200"/>
          </a:xfrm>
          <a:prstGeom prst="roundRect">
            <a:avLst>
              <a:gd name="adj" fmla="val 45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14300" dir="5400000">
              <a:srgbClr val="5F6FFF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24000" y="5257800"/>
            <a:ext cx="483362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1524000" y="5953125"/>
            <a:ext cx="4526026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SSR makes doctor profile pages visible to search crawlers immediately.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565900" y="4838700"/>
            <a:ext cx="5156200" cy="4648200"/>
          </a:xfrm>
          <a:prstGeom prst="roundRect">
            <a:avLst>
              <a:gd name="adj" fmla="val 45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14300" dir="5400000">
              <a:srgbClr val="5F6FFF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6900" y="5257800"/>
            <a:ext cx="483362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6946900" y="5953125"/>
            <a:ext cx="4526026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Folder-based App Router for each dashboard.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946900" y="7505700"/>
            <a:ext cx="1676400" cy="457200"/>
          </a:xfrm>
          <a:prstGeom prst="roundRect">
            <a:avLst>
              <a:gd name="adj" fmla="val 20833"/>
            </a:avLst>
          </a:prstGeom>
          <a:solidFill>
            <a:srgbClr val="EE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99300" y="7581900"/>
            <a:ext cx="1447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35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/app/admin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946900" y="8058150"/>
            <a:ext cx="1813560" cy="457200"/>
          </a:xfrm>
          <a:prstGeom prst="roundRect">
            <a:avLst>
              <a:gd name="adj" fmla="val 20833"/>
            </a:avLst>
          </a:prstGeom>
          <a:solidFill>
            <a:srgbClr val="EEF0FF"/>
          </a:solidFill>
          <a:ln/>
        </p:spPr>
      </p:sp>
      <p:sp>
        <p:nvSpPr>
          <p:cNvPr id="14" name="Text 12"/>
          <p:cNvSpPr/>
          <p:nvPr/>
        </p:nvSpPr>
        <p:spPr>
          <a:xfrm>
            <a:off x="7099300" y="8134350"/>
            <a:ext cx="15849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35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/app/doctor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946900" y="8610600"/>
            <a:ext cx="2362200" cy="457200"/>
          </a:xfrm>
          <a:prstGeom prst="roundRect">
            <a:avLst>
              <a:gd name="adj" fmla="val 20833"/>
            </a:avLst>
          </a:prstGeom>
          <a:solidFill>
            <a:srgbClr val="EE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99300" y="8686800"/>
            <a:ext cx="2133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35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/app/my-profile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988800" y="4838700"/>
            <a:ext cx="5156200" cy="4648200"/>
          </a:xfrm>
          <a:prstGeom prst="roundRect">
            <a:avLst>
              <a:gd name="adj" fmla="val 45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14300" dir="5400000">
              <a:srgbClr val="5F6FFF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369800" y="5257800"/>
            <a:ext cx="483362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12369800" y="5953125"/>
            <a:ext cx="4526026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image loading and fast page transitions.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A3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CLOUDINARY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 Medical Imagery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1143000" y="2505075"/>
            <a:ext cx="13620750" cy="464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profile photos build trust on a medical platform.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7012305"/>
            <a:ext cx="4549616" cy="2474595"/>
          </a:xfrm>
          <a:prstGeom prst="roundRect">
            <a:avLst>
              <a:gd name="adj" fmla="val 7698"/>
            </a:avLst>
          </a:prstGeom>
          <a:solidFill>
            <a:srgbClr val="1C2660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7393305"/>
            <a:ext cx="41663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4000" y="7831455"/>
            <a:ext cx="416637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in MongoDB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524000" y="8412480"/>
            <a:ext cx="41663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Bloats the database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959316" y="7012305"/>
            <a:ext cx="4549616" cy="2474595"/>
          </a:xfrm>
          <a:prstGeom prst="roundRect">
            <a:avLst>
              <a:gd name="adj" fmla="val 7698"/>
            </a:avLst>
          </a:prstGeom>
          <a:solidFill>
            <a:srgbClr val="1C2660"/>
          </a:solidFill>
          <a:ln/>
        </p:spPr>
      </p:sp>
      <p:sp>
        <p:nvSpPr>
          <p:cNvPr id="10" name="Text 8"/>
          <p:cNvSpPr/>
          <p:nvPr/>
        </p:nvSpPr>
        <p:spPr>
          <a:xfrm>
            <a:off x="6340316" y="7393305"/>
            <a:ext cx="416637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40316" y="7831455"/>
            <a:ext cx="416637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disk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340316" y="8412480"/>
            <a:ext cx="41663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Causes scaling issues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0775633" y="7012305"/>
            <a:ext cx="6369368" cy="2474595"/>
          </a:xfrm>
          <a:prstGeom prst="roundRect">
            <a:avLst>
              <a:gd name="adj" fmla="val 7698"/>
            </a:avLst>
          </a:prstGeom>
          <a:solidFill>
            <a:srgbClr val="5F6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6633" y="7393305"/>
            <a:ext cx="616810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56633" y="7831455"/>
            <a:ext cx="616810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Multer → Cloudinary → URL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1156633" y="8412480"/>
            <a:ext cx="5775589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intercepts the file, uploads it, and saves only the optimized CDN URL.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563F5">
                  <a:alpha val="100000"/>
                </a:srgbClr>
              </a:gs>
              <a:gs pos="100000">
                <a:srgbClr val="7B88FF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STATE MANAGEMENT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143000" y="5829300"/>
            <a:ext cx="17602200" cy="148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916"/>
              </a:lnSpc>
              <a:buNone/>
            </a:pPr>
            <a:r>
              <a:rPr lang="en-US" sz="12000" b="1" spc="-4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API </a:t>
            </a:r>
            <a:pPr algn="l" indent="0" marL="0">
              <a:lnSpc>
                <a:spcPct val="84916"/>
              </a:lnSpc>
              <a:buNone/>
            </a:pPr>
            <a:r>
              <a:rPr lang="en-US" sz="12000" b="1" spc="-420" kern="0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Redux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143000" y="7581900"/>
            <a:ext cx="146685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91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never see admin data, so a heavy global store was unnecessary.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43000" y="8705850"/>
            <a:ext cx="16002000" cy="9525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063038"/>
            <a:ext cx="1885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AppContext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3162300" y="9020175"/>
            <a:ext cx="1763078" cy="466725"/>
          </a:xfrm>
          <a:prstGeom prst="roundRect">
            <a:avLst>
              <a:gd name="adj" fmla="val 50000"/>
            </a:avLst>
          </a:prstGeom>
          <a:solidFill>
            <a:srgbClr val="111A45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371850" y="9096375"/>
            <a:ext cx="14201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session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5115877" y="9020175"/>
            <a:ext cx="1605756" cy="466725"/>
          </a:xfrm>
          <a:prstGeom prst="roundRect">
            <a:avLst>
              <a:gd name="adj" fmla="val 50000"/>
            </a:avLst>
          </a:prstGeom>
          <a:solidFill>
            <a:srgbClr val="111A45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25427" y="9096375"/>
            <a:ext cx="126285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token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912134" y="9020175"/>
            <a:ext cx="2753995" cy="466725"/>
          </a:xfrm>
          <a:prstGeom prst="roundRect">
            <a:avLst>
              <a:gd name="adj" fmla="val 50000"/>
            </a:avLst>
          </a:prstGeom>
          <a:solidFill>
            <a:srgbClr val="111A45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121684" y="9096375"/>
            <a:ext cx="241751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doctors list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5252859" y="9086850"/>
            <a:ext cx="20813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prop-drilling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· TESTING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Validation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4648200"/>
            <a:ext cx="5156200" cy="4838700"/>
          </a:xfrm>
          <a:prstGeom prst="roundRect">
            <a:avLst>
              <a:gd name="adj" fmla="val 43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14300" dir="5400000">
              <a:srgbClr val="5F6FFF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24000" y="5067300"/>
            <a:ext cx="48336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scripts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524000" y="5715000"/>
            <a:ext cx="4526026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slot locking and the application pipeline without the UI.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24000" y="8362950"/>
            <a:ext cx="48336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35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test-appts.js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24000" y="8763000"/>
            <a:ext cx="483362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35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test-doctor-api.js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65900" y="4648200"/>
            <a:ext cx="5156200" cy="4838700"/>
          </a:xfrm>
          <a:prstGeom prst="roundRect">
            <a:avLst>
              <a:gd name="adj" fmla="val 43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14300" dir="5400000">
              <a:srgbClr val="5F6FF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6900" y="5067300"/>
            <a:ext cx="48336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946900" y="5715000"/>
            <a:ext cx="4526026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confirms cross-role access is denied, e.g. a patient can't approve a doctor.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988800" y="4648200"/>
            <a:ext cx="5156200" cy="4838700"/>
          </a:xfrm>
          <a:prstGeom prst="roundRect">
            <a:avLst>
              <a:gd name="adj" fmla="val 43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14300" dir="5400000">
              <a:srgbClr val="5F6FF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369800" y="5067300"/>
            <a:ext cx="48336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edge cases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369800" y="5715000"/>
            <a:ext cx="4526026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5B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signature checks keep appointments marked Pending.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A3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ROADMAP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176022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5958840"/>
            <a:ext cx="7886700" cy="1649730"/>
          </a:xfrm>
          <a:prstGeom prst="roundRect">
            <a:avLst>
              <a:gd name="adj" fmla="val 11547"/>
            </a:avLst>
          </a:prstGeom>
          <a:solidFill>
            <a:srgbClr val="1C2660"/>
          </a:solidFill>
          <a:ln/>
        </p:spPr>
      </p:sp>
      <p:sp>
        <p:nvSpPr>
          <p:cNvPr id="5" name="Text 3"/>
          <p:cNvSpPr/>
          <p:nvPr/>
        </p:nvSpPr>
        <p:spPr>
          <a:xfrm>
            <a:off x="1562100" y="6339840"/>
            <a:ext cx="933450" cy="925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419350" y="6339840"/>
            <a:ext cx="68103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Telemedicine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2419350" y="6854190"/>
            <a:ext cx="681037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consultations via WebRTC or Zoom API.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258300" y="5958840"/>
            <a:ext cx="7886700" cy="1649730"/>
          </a:xfrm>
          <a:prstGeom prst="roundRect">
            <a:avLst>
              <a:gd name="adj" fmla="val 11547"/>
            </a:avLst>
          </a:prstGeom>
          <a:solidFill>
            <a:srgbClr val="1C2660"/>
          </a:solidFill>
          <a:ln/>
        </p:spPr>
      </p:sp>
      <p:sp>
        <p:nvSpPr>
          <p:cNvPr id="9" name="Text 7"/>
          <p:cNvSpPr/>
          <p:nvPr/>
        </p:nvSpPr>
        <p:spPr>
          <a:xfrm>
            <a:off x="9677400" y="6339840"/>
            <a:ext cx="933450" cy="925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534650" y="6339840"/>
            <a:ext cx="68103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prescriptions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0534650" y="6854190"/>
            <a:ext cx="681037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PDF prescriptions after each visit.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7837170"/>
            <a:ext cx="7886700" cy="1649730"/>
          </a:xfrm>
          <a:prstGeom prst="roundRect">
            <a:avLst>
              <a:gd name="adj" fmla="val 11547"/>
            </a:avLst>
          </a:prstGeom>
          <a:solidFill>
            <a:srgbClr val="1C2660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8218170"/>
            <a:ext cx="933450" cy="925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A3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419350" y="8218170"/>
            <a:ext cx="68103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reminders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419350" y="8732520"/>
            <a:ext cx="681037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C9C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and SMS 24 hours before a slot.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258300" y="7837170"/>
            <a:ext cx="7886700" cy="1649730"/>
          </a:xfrm>
          <a:prstGeom prst="roundRect">
            <a:avLst>
              <a:gd name="adj" fmla="val 11547"/>
            </a:avLst>
          </a:prstGeom>
          <a:solidFill>
            <a:srgbClr val="5F6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677400" y="8218170"/>
            <a:ext cx="933450" cy="925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534650" y="8218170"/>
            <a:ext cx="68103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slots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0534650" y="8732520"/>
            <a:ext cx="681037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shift durations set by doctors.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832961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5F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· CONCLUSION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438275"/>
            <a:ext cx="832961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421"/>
              </a:lnSpc>
              <a:buNone/>
            </a:pPr>
            <a:r>
              <a:rPr lang="en-US" sz="6300" b="1" spc="-158" kern="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1143000" y="5173980"/>
            <a:ext cx="7572375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5469255"/>
            <a:ext cx="7799546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Digitalizes local healthcare booking, solving transparency and manual scheduling.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6608445"/>
            <a:ext cx="7572375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6903720"/>
            <a:ext cx="7799546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Multi-role access control and robust slot-booking concurrency logic.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9477375"/>
            <a:ext cx="7572375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8042910"/>
            <a:ext cx="7572375" cy="9525"/>
          </a:xfrm>
          <a:prstGeom prst="rect">
            <a:avLst/>
          </a:prstGeom>
          <a:solidFill>
            <a:srgbClr val="DDE0F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8338185"/>
            <a:ext cx="7799546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444"/>
              </a:lnSpc>
              <a:buNone/>
            </a:pPr>
            <a:r>
              <a:rPr lang="en-US" sz="2400" dirty="0">
                <a:solidFill>
                  <a:srgbClr val="11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Performant, production-ready MERN + Next.js platform.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72625" y="3070860"/>
            <a:ext cx="7572375" cy="4259421"/>
          </a:xfrm>
          <a:prstGeom prst="roundRect">
            <a:avLst>
              <a:gd name="adj" fmla="val 4472"/>
            </a:avLst>
          </a:prstGeom>
          <a:ln/>
          <a:effectLst>
            <a:outerShdw sx="100000" sy="100000" kx="0" ky="0" algn="bl" rotWithShape="0" blurRad="857250" dist="381000" dir="5400000">
              <a:srgbClr val="5F6FFF">
                <a:alpha val="2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72625" y="3070860"/>
            <a:ext cx="7572375" cy="42594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563F5">
                  <a:alpha val="100000"/>
                </a:srgbClr>
              </a:gs>
              <a:gs pos="100000">
                <a:srgbClr val="7B88FF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80282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5935167" y="971550"/>
            <a:ext cx="133081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· Q&amp;A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43000" y="3476625"/>
            <a:ext cx="1760220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162"/>
              </a:lnSpc>
              <a:buNone/>
            </a:pPr>
            <a:r>
              <a:rPr lang="en-US" sz="16500" b="1" spc="-6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6500" dirty="0"/>
          </a:p>
        </p:txBody>
      </p:sp>
      <p:sp>
        <p:nvSpPr>
          <p:cNvPr id="6" name="Text 4"/>
          <p:cNvSpPr/>
          <p:nvPr/>
        </p:nvSpPr>
        <p:spPr>
          <a:xfrm>
            <a:off x="1143000" y="5591175"/>
            <a:ext cx="17602200" cy="714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E1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1143000" y="8401050"/>
            <a:ext cx="16002000" cy="9525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8715375"/>
            <a:ext cx="6695472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9077325"/>
            <a:ext cx="6695472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Prescripto · Doctor Appointment Booking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8182292" y="8715375"/>
            <a:ext cx="1863249" cy="323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82292" y="9077325"/>
            <a:ext cx="1863249" cy="4476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Tapas Jyoti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3506133" y="9172575"/>
            <a:ext cx="4002754" cy="3524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available upon request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2026-09-23T18:35:27Z</dcterms:created>
  <dcterms:modified xsi:type="dcterms:W3CDTF">2026-09-23T18:35:27Z</dcterms:modified>
</cp:coreProperties>
</file>